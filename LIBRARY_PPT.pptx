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292" r:id="rId9"/>
    <p:sldId id="300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301" r:id="rId18"/>
    <p:sldId id="302" r:id="rId19"/>
    <p:sldId id="303" r:id="rId20"/>
    <p:sldId id="304" r:id="rId21"/>
    <p:sldId id="269" r:id="rId2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69C24A-1F65-4140-B64F-DAF31CA90097}" v="19" dt="2026-07-20T06:26:16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4" autoAdjust="0"/>
    <p:restoredTop sz="94660"/>
  </p:normalViewPr>
  <p:slideViewPr>
    <p:cSldViewPr>
      <p:cViewPr varScale="1">
        <p:scale>
          <a:sx n="80" d="100"/>
          <a:sy n="80" d="100"/>
        </p:scale>
        <p:origin x="158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9: Sample Data Insertion. Demonstrates the comprehensive population of all 9 database entities in strict dependency order: Category, Publisher, Author, Librarian, Student, Book, Book_Author, Issue, and Fine. A total of 92 records were inserted. Live MySQL verification shows rows from Student and Book catalog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10: DDL Commands. Demonstrates schema definition and evolution: CREATE TABLE BOOK with primary key and foreign keys with ON UPDATE CASCADE ON DELETE RESTRICT; ALTER TABLE adding date_of_birth to STUDENT; B-Tree index creation on BOOK(title) for fast title lookups; and widening FINE amount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11: DML Commands. Demonstrates data manipulation operations: INSERT adding new student Meera Iyer; UPDATE changing student department and recording book return on ISSUE; and DELETE safely removing non-borrowing student without violating referential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12: DQL / SQL Queries. Demonstrates query operations: conditional filtering with WHERE, compound AND/OR logic, range filtering with BETWEEN for publication years, pattern matching with LIKE for titles, set membership with IN, and pagination with ORDER BY and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13: SQL Joins. Demonstrates relational queries across tables: INNER JOIN linking Student, Issue, and Book; 4-way multi-table join analyzing active loans by category and publisher; LEFT OUTER JOIN showing issues with optional fine status; and SELF JOIN matching student peers in the same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14: Aggregate Functions &amp; Subqueries. Demonstrates statistical analysis: COUNT of books per category; library-wide financial metrics (SUM, AVG, MIN, MAX fines); GROUP BY with HAVING filtering librarians handling &gt; 2 issues; and nested subqueries identifying students with above-average borrow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15: Database Views. Demonstrates pre-compiled views: AVAILABLE_BOOKS filtering active stock; CURRENT_ISSUES showing active loans with borrower and book titles; and FINE_DETAILS joining fine records with member profiles to simplify reporting and protect sensitive contact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16: CRUD Operations. Demonstrates complete Create, Read, Update, Delete lifecycle implementations for core entities: Book inventory management, Student member registration, and Issue/Fine operational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17: Data Integrity &amp; Constraints Validation. Demonstrates MySQL 8.0 constraint enforcement actively blocking invalid transactions: CHECK constraint rejecting invalid year, UNIQUE constraint rejecting duplicate student email, FOREIGN KEY rejecting orphan student references, and triggers automating stock decrement/increment.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18: Transactions &amp; Concurrency. Demonstrates atomic book loan processing using START TRANSACTION, SELECT ... FOR UPDATE (pessimistic row locking) to prevent race conditions on the last copy of a book, and COMMIT/ROLLBACK failsafes guaranteeing ACID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19: System Demonstration &amp; Outputs. Demonstrates live operational management queries from the SQL project: circulation leaderboard of most-borrowed books, overdue fine audit report, and upcoming due date tracking for library administrators.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20: Conclusion &amp; Future Enhancements. Synthesizes 3NF/BCNF normalization achievements across 9 entities, multi-tier integrity guarantees, autonomous triggers, and future roadmaps including RFID scanning kiosks, student web/mobile portals, automated alerts, and AI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39767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LIBRARY MANAGEMENT SYSTEM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2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900" spc="-25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Tejeswar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Doolla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(25B11AIB79)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Syed Saif Hussain (25B11AIB59)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Lokesh </a:t>
            </a: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Kapparati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(25B11AI495)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000" spc="-10" dirty="0" err="1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Ganusai</a:t>
            </a:r>
            <a:r>
              <a:rPr lang="en-IN" sz="2000" spc="-10" dirty="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(25B11AIC55)</a:t>
            </a: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65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2200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20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5871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954952" y="344896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1600200" y="2133600"/>
            <a:ext cx="6324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the project title, objectives, and problem statement.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DE673-CB54-DA14-DE09-85267913D7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0"/>
            <a:ext cx="102870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at least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entities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their attributes.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21B561-BEFE-537E-9EDC-D765992627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1346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F592E-1BC5-A7E5-94A9-5EBA752B1D71}"/>
              </a:ext>
            </a:extLst>
          </p:cNvPr>
          <p:cNvSpPr txBox="1"/>
          <p:nvPr/>
        </p:nvSpPr>
        <p:spPr>
          <a:xfrm>
            <a:off x="1565713" y="2209800"/>
            <a:ext cx="69269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ER Diagram with relationships.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B00911-1154-50E0-AE7B-DC218ADCDB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6"/>
          <a:stretch>
            <a:fillRect/>
          </a:stretch>
        </p:blipFill>
        <p:spPr>
          <a:xfrm>
            <a:off x="152400" y="1007025"/>
            <a:ext cx="9677400" cy="656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95DB9-015F-1A5A-C9C5-048003F057DB}"/>
              </a:ext>
            </a:extLst>
          </p:cNvPr>
          <p:cNvSpPr txBox="1"/>
          <p:nvPr/>
        </p:nvSpPr>
        <p:spPr>
          <a:xfrm>
            <a:off x="2171700" y="2209800"/>
            <a:ext cx="647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relational database schema.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9B3884-11D6-B975-18B7-FCF3284D06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0"/>
            <a:ext cx="10668000" cy="8001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040529-96B1-C979-555F-5D3EDFE0E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9763" y="7114052"/>
            <a:ext cx="5715000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E2F94-6AD4-B724-E3FB-997227B0055D}"/>
              </a:ext>
            </a:extLst>
          </p:cNvPr>
          <p:cNvSpPr txBox="1"/>
          <p:nvPr/>
        </p:nvSpPr>
        <p:spPr>
          <a:xfrm>
            <a:off x="2514600" y="3704102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Keys and Foreign Keys.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ED4C49-80E3-B883-55F0-A90D34E3A6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0"/>
            <a:ext cx="10210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database and tables with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NULL, UNIQUE, CHECK,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DEFAULT constraints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991F3E-7254-3B83-58B8-243D1E28A7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0"/>
            <a:ext cx="10287000" cy="792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FD1235-D55F-ABB3-82CC-7ABD58EA4C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16" y="124299"/>
            <a:ext cx="1419423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-76200"/>
            <a:ext cx="10058400" cy="1074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937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152400"/>
            <a:ext cx="100584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-19050"/>
            <a:ext cx="10058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575" y="-152400"/>
            <a:ext cx="100584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" y="0"/>
            <a:ext cx="10058400" cy="106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058400" cy="108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100" y="-76200"/>
            <a:ext cx="10058400" cy="1242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25" y="9525"/>
            <a:ext cx="10058400" cy="1173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-76200"/>
            <a:ext cx="10058400" cy="9525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10058400" cy="12477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2645</TotalTime>
  <Words>767</Words>
  <Application>Microsoft Office PowerPoint</Application>
  <PresentationFormat>Custom</PresentationFormat>
  <Paragraphs>58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Cambria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25B11AIB79</cp:lastModifiedBy>
  <cp:revision>52</cp:revision>
  <cp:lastPrinted>2025-10-14T18:21:49Z</cp:lastPrinted>
  <dcterms:created xsi:type="dcterms:W3CDTF">2025-10-10T08:28:06Z</dcterms:created>
  <dcterms:modified xsi:type="dcterms:W3CDTF">2026-09-14T09:34:23Z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